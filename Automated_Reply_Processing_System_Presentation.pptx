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AUTOMATED REPLY PROCESSING SYSTEM</a:t>
            </a:r>
          </a:p>
          <a:p>
            <a:pPr>
              <a:spcBef>
                <a:spcPts val="1200"/>
              </a:spcBef>
              <a:defRPr sz="2000" b="1">
                <a:solidFill>
                  <a:srgbClr val="38BDF8"/>
                </a:solidFill>
                <a:latin typeface="Segoe UI"/>
              </a:defRPr>
            </a:pPr>
            <a:r>
              <a:t>Offline RPA Bot for Maruti Suzuki SIFT Quality Portal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Practical Training - I Internship Project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98755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029200"/>
            <a:ext cx="9509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Submitted by: Kapil Kumar (Roll No: 27286)  |  B.Tech CSE (AI &amp; ML)</a:t>
            </a:r>
          </a:p>
          <a:p>
            <a:pPr>
              <a:spcBef>
                <a:spcPts val="600"/>
              </a:spcBef>
              <a:defRPr sz="1300">
                <a:solidFill>
                  <a:srgbClr val="4ADE80"/>
                </a:solidFill>
              </a:defRPr>
            </a:pPr>
            <a:r>
              <a:t>Under the Guidance of: Mr. Akansh Mittal (Training Guide, MSIL)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Dronacharya College of Engineering, Gurugram  |  June –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AUTOMATED REPLY PROCESSING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 &amp; Need for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⚠️ Manual Operational Bottlenecks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High Time Consumption: </a:t>
            </a:r>
            <a:r>
              <a:rPr sz="1300">
                <a:solidFill>
                  <a:srgbClr val="94A3B8"/>
                </a:solidFill>
              </a:rPr>
              <a:t>Quality engineers manually opened Excel and Edge browsers for every record, spending 2-3 minutes per case entry.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Fatigue &amp; Error Risk: </a:t>
            </a:r>
            <a:r>
              <a:rPr sz="1300">
                <a:solidFill>
                  <a:srgbClr val="94A3B8"/>
                </a:solidFill>
              </a:rPr>
              <a:t>Repeated context switching across framesets led to copy-paste exhaustion and potential case misalignments.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Scalability Constraints: </a:t>
            </a:r>
            <a:r>
              <a:rPr sz="1300">
                <a:solidFill>
                  <a:srgbClr val="94A3B8"/>
                </a:solidFill>
              </a:rPr>
              <a:t>High daily volumes of field complaints created a backlog in closing feedback loops with manufacturing units.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🔒 Strict Corporate Constraints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Absolute Data Confidentiality: </a:t>
            </a:r>
            <a:r>
              <a:rPr sz="1300">
                <a:solidFill>
                  <a:srgbClr val="94A3B8"/>
                </a:solidFill>
              </a:rPr>
              <a:t>SIFT handles proprietary quality metrics. Third-party cloud tools (Zapier, Power Automate Cloud) are strictly prohibited.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Intranet &amp; SSO Governance: </a:t>
            </a:r>
            <a:r>
              <a:rPr sz="1300">
                <a:solidFill>
                  <a:srgbClr val="94A3B8"/>
                </a:solidFill>
              </a:rPr>
              <a:t>The system must run behind corporate firewalls and handle employee Single Sign-On (SSO) seamlessly.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Offline Desktop Deployment: </a:t>
            </a:r>
            <a:r>
              <a:rPr sz="1300">
                <a:solidFill>
                  <a:srgbClr val="94A3B8"/>
                </a:solidFill>
              </a:rPr>
              <a:t>Required a zero-dependency script running locally on standard office Windows workstations without admin rights.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AUTOMATED REPLY PROCESSING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Overview &amp;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1. End-to-End Automation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Automate portal login, Quick Search navigation, case retrieval, text entry, and saving via Python &amp; Selenium.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ADE80"/>
                </a:solidFill>
              </a:defRPr>
            </a:pPr>
            <a:r>
              <a:t>2. Absolute Data Integrity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Pre-save header and text validation loops eliminate copy-paste mismatches before committing database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3. Granular Status Logging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Dynamically updates Excel sheets after every row: 'Completed', 'Already Filled', or detailed 'Failed' reason.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4. Resilient &amp; Offline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Handles intranet network latency, frame context switches, and runs 100% locally with zero cloud 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AUTOMATED REPLY PROCESSING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End-to-End Automation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459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463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Excel Ingestion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Reads FTIR No &amp; pre-written reply from spreadsheet.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16459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103120"/>
            <a:ext cx="1463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Portal Auth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Logs into SIFT or attaches to active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16459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1463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Quick Search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Navigates frames &amp; searches case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16459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1463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500" b="1">
                <a:solidFill>
                  <a:srgbClr val="4ADE80"/>
                </a:solidFill>
              </a:defRPr>
            </a:pPr>
            <a:r>
              <a:t>Record Match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Verifies page header strictly matches case 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16459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1463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Step 5</a:t>
            </a:r>
          </a:p>
          <a:p>
            <a:pPr>
              <a:spcBef>
                <a:spcPts val="800"/>
              </a:spcBef>
              <a:defRPr sz="1500" b="1">
                <a:solidFill>
                  <a:srgbClr val="4ADE80"/>
                </a:solidFill>
              </a:defRPr>
            </a:pPr>
            <a:r>
              <a:t>Paste &amp; Verify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Pastes text &amp; checks content equality.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011680"/>
            <a:ext cx="16459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2103120"/>
            <a:ext cx="1463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Step 6</a:t>
            </a:r>
          </a:p>
          <a:p>
            <a:pPr>
              <a:spcBef>
                <a:spcPts val="800"/>
              </a:spcBef>
              <a:defRPr sz="1500" b="1">
                <a:solidFill>
                  <a:srgbClr val="FBBF24"/>
                </a:solidFill>
              </a:defRPr>
            </a:pPr>
            <a:r>
              <a:t>Save &amp; Log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Clicks Save/Complete &amp; writes Excel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📊 Dynamic Excel Status Updates: Completed (Saved) | Already Filled (Skipped) | Failed: &lt;error_reason&gt;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AUTOMATED REPLY PROCESSING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Tools &amp; Technology Stack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Python 3.10+  </a:t>
            </a:r>
            <a:r>
              <a:rPr sz="1400" b="1">
                <a:solidFill>
                  <a:srgbClr val="FFFFFF"/>
                </a:solidFill>
              </a:rPr>
              <a:t>|  Core Orchestrator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Provides high-level language capabilities for exception handling, JSON configuration parsing, and loop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ADE80"/>
                </a:solidFill>
              </a:rPr>
              <a:t>Selenium WebDriver  </a:t>
            </a:r>
            <a:r>
              <a:rPr sz="1400" b="1">
                <a:solidFill>
                  <a:srgbClr val="FFFFFF"/>
                </a:solidFill>
              </a:rPr>
              <a:t>|  Browser Automation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Directly drives Microsoft Edge/Chrome, switches dynamic HTML framesets, and attaches to active port 9222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</a:rPr>
              <a:t>OpenPyXL  </a:t>
            </a:r>
            <a:r>
              <a:rPr sz="1400" b="1">
                <a:solidFill>
                  <a:srgbClr val="FFFFFF"/>
                </a:solidFill>
              </a:rPr>
              <a:t>|  Spreadsheet I/O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High-fidelity Excel library that updates cell statuses line-by-line while preserving native spreadsheet fonts and layouts.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Pyperclip  </a:t>
            </a:r>
            <a:r>
              <a:rPr sz="1400" b="1">
                <a:solidFill>
                  <a:srgbClr val="FFFFFF"/>
                </a:solidFill>
              </a:rPr>
              <a:t>|  Clipboard Pasting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Provides robust clipboard paste fallback (Ctrl+V) when browser input buffers drop multiline text characters.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AUTOMATED REPLY PROCESSING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Security, Privacy &amp; System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🛡️ Record Match Safety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Executes strict exact-match text validation on the loaded portal record header before any reply is pasted. If header != FTIR No, the row immediately aborts.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🔁 Multi-Tier Paste Verification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Compares actual textarea text against intended Excel text (whitespace-normalized). Automatically retries using JS injection and Ctrl+V clipboard paste.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🚫 Cloud-Sync Leak Detection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Scans local working paths for markers like OneDrive or Dropbox. Raises high-visibility terminal warnings to prevent accidental cloud sync of private logs/configs.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🔍 Redacted Plaintext Logging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Logs case numbers using masked previews (e.g. FTI...XY) and replies as SHA-256 hashes, keeping corporate case metrics safe in plain-text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AUTOMATED REPLY PROCESSING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Module-Wise System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Module 1: Excel Ingestion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Scans header row 1, dynamically maps column indices for FTIR No, Reply, and Status, and queues non-completed rows.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Module 2: Portal Auth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Launches Edge or attaches to port 9222. Handles automated credential entry or pauses for manual SSO login.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ADE80"/>
                </a:solidFill>
              </a:defRPr>
            </a:pPr>
            <a:r>
              <a:t>Module 3: Quick Search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Switches to menu frame (frame 1), clicks QUICK SEARCH, shifts window handle, inputs ID in #txtSel0, and clicks #searchbtn.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ADE80"/>
                </a:solidFill>
              </a:defRPr>
            </a:pPr>
            <a:r>
              <a:t>Module 4: Reply Section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Expands swFeedbackBlock, selects 'Reply individually' radio button, and locates the row-specific textarea.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Module 5: Overwrite Guard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Scans for 'Completed' tags or existing text. Raises AlreadyDoneError to protect pre-existing replies.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Module 6: Status Management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Clicks Save/Complete, accepts browser alert popups, and updates Excel cell status instantly to disk.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AUTOMATED REPLY PROCESSING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Testing Strategy &amp; Operational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📋 Matrix Summary of Key Test Cases (TC01 - TC11)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• TC01: Valid Login | Input: Valid Credentials | Expected: SIFT Menu Loads | Result: </a:t>
            </a:r>
            <a:r>
              <a:rPr sz="1200" b="1">
                <a:solidFill>
                  <a:srgbClr val="4ADE80"/>
                </a:solidFill>
              </a:rPr>
              <a:t>PASS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• TC03: Quick Search | Input: AE20250B00111 | Expected: Record Popup Opens | Result: </a:t>
            </a:r>
            <a:r>
              <a:rPr sz="1200" b="1">
                <a:solidFill>
                  <a:srgbClr val="4ADE80"/>
                </a:solidFill>
              </a:rPr>
              <a:t>PASS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• TC06: Overwrite Guard | Input: Existing Text in Field | Expected: Status -&gt; Already Filled | Result: </a:t>
            </a:r>
            <a:r>
              <a:rPr sz="1200" b="1">
                <a:solidFill>
                  <a:srgbClr val="4ADE80"/>
                </a:solidFill>
              </a:rPr>
              <a:t>PASS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• TC07: Paste &amp; Verify | Input: Multi-line Text | Expected: Text Verified &amp; Pasted | Result: </a:t>
            </a:r>
            <a:r>
              <a:rPr sz="1200" b="1">
                <a:solidFill>
                  <a:srgbClr val="4ADE80"/>
                </a:solidFill>
              </a:rPr>
              <a:t>PASS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• TC08: Save &amp; Alert | Input: Click Save Button | Expected: Alert Accepted &amp; Saved | Result: </a:t>
            </a:r>
            <a:r>
              <a:rPr sz="1200" b="1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🚀 Operational Impact &amp; Efficiency Metrics</a:t>
            </a:r>
          </a:p>
          <a:p>
            <a:pPr>
              <a:spcBef>
                <a:spcPts val="400"/>
              </a:spcBef>
            </a:pPr>
            <a:r>
              <a:rPr b="1" sz="1250">
                <a:solidFill>
                  <a:srgbClr val="FFFFFF"/>
                </a:solidFill>
              </a:rPr>
              <a:t>Execution Speedup: </a:t>
            </a:r>
            <a:r>
              <a:rPr sz="1250">
                <a:solidFill>
                  <a:srgbClr val="94A3B8"/>
                </a:solidFill>
              </a:rPr>
              <a:t>Reduced processing time from ~150 seconds (manual) to &lt;20 seconds per record (~85% time reduction).</a:t>
            </a:r>
          </a:p>
          <a:p>
            <a:pPr>
              <a:spcBef>
                <a:spcPts val="400"/>
              </a:spcBef>
            </a:pPr>
            <a:r>
              <a:rPr b="1" sz="1250">
                <a:solidFill>
                  <a:srgbClr val="FFFFFF"/>
                </a:solidFill>
              </a:rPr>
              <a:t>Zero Copy-Paste Errors: </a:t>
            </a:r>
            <a:r>
              <a:rPr sz="1250">
                <a:solidFill>
                  <a:srgbClr val="94A3B8"/>
                </a:solidFill>
              </a:rPr>
              <a:t>Automated exact-match header verification guarantees zero wrong-record replies.</a:t>
            </a:r>
          </a:p>
          <a:p>
            <a:pPr>
              <a:spcBef>
                <a:spcPts val="400"/>
              </a:spcBef>
            </a:pPr>
            <a:r>
              <a:rPr b="1" sz="1250">
                <a:solidFill>
                  <a:srgbClr val="FFFFFF"/>
                </a:solidFill>
              </a:rPr>
              <a:t>Graceful Error Recovery: </a:t>
            </a:r>
            <a:r>
              <a:rPr sz="1250">
                <a:solidFill>
                  <a:srgbClr val="94A3B8"/>
                </a:solidFill>
              </a:rPr>
              <a:t>Simulated network drops &amp; missing fields log failures to Excel without crashing the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AUTOMATED REPLY PROCESSING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ADE80"/>
                </a:solidFill>
              </a:defRPr>
            </a:pPr>
            <a:r>
              <a:t>🎯 Achievements &amp; Learning Outcomes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FFFFFF"/>
                </a:solidFill>
              </a:rPr>
              <a:t>Production Deliverable: </a:t>
            </a:r>
            <a:r>
              <a:rPr sz="1250">
                <a:solidFill>
                  <a:srgbClr val="94A3B8"/>
                </a:solidFill>
              </a:rPr>
              <a:t>Delivered a reliable, production-ready Python automation tool for MSIL Quality Engineering.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FFFFFF"/>
                </a:solidFill>
              </a:rPr>
              <a:t>Security Compliance: </a:t>
            </a:r>
            <a:r>
              <a:rPr sz="1250">
                <a:solidFill>
                  <a:srgbClr val="94A3B8"/>
                </a:solidFill>
              </a:rPr>
              <a:t>Achieved 100% compliance with strict corporate offline data handling requirements.</a:t>
            </a:r>
          </a:p>
          <a:p>
            <a:pPr>
              <a:spcBef>
                <a:spcPts val="1200"/>
              </a:spcBef>
            </a:pPr>
            <a:r>
              <a:rPr b="1" sz="1250">
                <a:solidFill>
                  <a:srgbClr val="FFFFFF"/>
                </a:solidFill>
              </a:rPr>
              <a:t>Technical Mastery: </a:t>
            </a:r>
            <a:r>
              <a:rPr sz="1250">
                <a:solidFill>
                  <a:srgbClr val="94A3B8"/>
                </a:solidFill>
              </a:rPr>
              <a:t>Gained deep practical expertise in Selenium WebDriver, DOM frameset traversal, OpenPyXL, and RPA system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🔮 Future Enhancements &amp; Q&amp;A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FFFFFF"/>
                </a:solidFill>
              </a:rPr>
              <a:t>Graphical Selector Configurator: </a:t>
            </a:r>
            <a:r>
              <a:rPr sz="1250">
                <a:solidFill>
                  <a:srgbClr val="94A3B8"/>
                </a:solidFill>
              </a:rPr>
              <a:t>Build a simple Tkinter GUI settings panel so non-technical users can update portal element IDs.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FFFFFF"/>
                </a:solidFill>
              </a:rPr>
              <a:t>Automated Summary Reporting: </a:t>
            </a:r>
            <a:r>
              <a:rPr sz="1250">
                <a:solidFill>
                  <a:srgbClr val="94A3B8"/>
                </a:solidFill>
              </a:rPr>
              <a:t>Generate an automated PDF executive summary report after batch runs complete.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FFFFFF"/>
                </a:solidFill>
              </a:rPr>
              <a:t>OCR / Captcha Integration: </a:t>
            </a:r>
            <a:r>
              <a:rPr sz="1250">
                <a:solidFill>
                  <a:srgbClr val="94A3B8"/>
                </a:solidFill>
              </a:rPr>
              <a:t>Prepare fallback hooks for visual captcha solving if portal security upgrades in future.</a:t>
            </a:r>
          </a:p>
          <a:p>
            <a:pPr>
              <a:spcBef>
                <a:spcPts val="2000"/>
              </a:spcBef>
              <a:defRPr sz="1600" b="1">
                <a:solidFill>
                  <a:srgbClr val="FBBF24"/>
                </a:solidFill>
              </a:defRPr>
            </a:pPr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